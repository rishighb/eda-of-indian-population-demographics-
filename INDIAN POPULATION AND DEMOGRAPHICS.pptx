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92" r:id="rId11"/>
    <p:sldId id="287" r:id="rId12"/>
    <p:sldId id="288" r:id="rId13"/>
    <p:sldId id="289" r:id="rId14"/>
    <p:sldId id="290" r:id="rId15"/>
    <p:sldId id="291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FB3292-C32C-445E-9F4D-AE28C4ED456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0F5840-D0FB-41CC-A526-792DE072A9DB}">
      <dgm:prSet/>
      <dgm:spPr/>
      <dgm:t>
        <a:bodyPr/>
        <a:lstStyle/>
        <a:p>
          <a:r>
            <a:rPr lang="en-US" b="1"/>
            <a:t>Source:</a:t>
          </a:r>
          <a:r>
            <a:rPr lang="en-US"/>
            <a:t> Government of India - Office of the Registrar General &amp; Census Commissioner.</a:t>
          </a:r>
        </a:p>
      </dgm:t>
    </dgm:pt>
    <dgm:pt modelId="{5A9A7174-89F5-4F11-A436-948FB05D9990}" type="parTrans" cxnId="{6C889602-6380-42AC-A2DE-4CE8C149623F}">
      <dgm:prSet/>
      <dgm:spPr/>
      <dgm:t>
        <a:bodyPr/>
        <a:lstStyle/>
        <a:p>
          <a:endParaRPr lang="en-US"/>
        </a:p>
      </dgm:t>
    </dgm:pt>
    <dgm:pt modelId="{698CDD78-721A-4E70-8560-C52EF3B1D582}" type="sibTrans" cxnId="{6C889602-6380-42AC-A2DE-4CE8C149623F}">
      <dgm:prSet/>
      <dgm:spPr/>
      <dgm:t>
        <a:bodyPr/>
        <a:lstStyle/>
        <a:p>
          <a:endParaRPr lang="en-US"/>
        </a:p>
      </dgm:t>
    </dgm:pt>
    <dgm:pt modelId="{9041A175-61F5-4C60-8E7B-9A81FB6B2B53}">
      <dgm:prSet/>
      <dgm:spPr/>
      <dgm:t>
        <a:bodyPr/>
        <a:lstStyle/>
        <a:p>
          <a:r>
            <a:rPr lang="en-US" b="1"/>
            <a:t>Dataset Name:</a:t>
          </a:r>
          <a:r>
            <a:rPr lang="en-US"/>
            <a:t> 2011-IndiaStateDistSbDist-0000.xlsx</a:t>
          </a:r>
        </a:p>
      </dgm:t>
    </dgm:pt>
    <dgm:pt modelId="{5F9469D5-E426-499D-B6D9-6D60AFBC2D35}" type="parTrans" cxnId="{EB77B8C9-E0BC-4B96-BED7-40AE53D295CA}">
      <dgm:prSet/>
      <dgm:spPr/>
      <dgm:t>
        <a:bodyPr/>
        <a:lstStyle/>
        <a:p>
          <a:endParaRPr lang="en-US"/>
        </a:p>
      </dgm:t>
    </dgm:pt>
    <dgm:pt modelId="{960D3F76-0EB3-4D7C-ABF1-02B21D1AF913}" type="sibTrans" cxnId="{EB77B8C9-E0BC-4B96-BED7-40AE53D295CA}">
      <dgm:prSet/>
      <dgm:spPr/>
      <dgm:t>
        <a:bodyPr/>
        <a:lstStyle/>
        <a:p>
          <a:endParaRPr lang="en-US"/>
        </a:p>
      </dgm:t>
    </dgm:pt>
    <dgm:pt modelId="{EDB5A7EB-45A1-447E-856C-CF3022216D77}">
      <dgm:prSet/>
      <dgm:spPr/>
      <dgm:t>
        <a:bodyPr/>
        <a:lstStyle/>
        <a:p>
          <a:r>
            <a:rPr lang="en-US" b="1"/>
            <a:t>Shape:</a:t>
          </a:r>
          <a:r>
            <a:rPr lang="en-US"/>
            <a:t> 19,992 Rows × 94 Columns.</a:t>
          </a:r>
        </a:p>
      </dgm:t>
    </dgm:pt>
    <dgm:pt modelId="{C115F5F3-972D-4AC5-B8CB-90B56581F386}" type="parTrans" cxnId="{9CC252C8-2646-4F8E-BDB1-BF33AAA2B102}">
      <dgm:prSet/>
      <dgm:spPr/>
      <dgm:t>
        <a:bodyPr/>
        <a:lstStyle/>
        <a:p>
          <a:endParaRPr lang="en-US"/>
        </a:p>
      </dgm:t>
    </dgm:pt>
    <dgm:pt modelId="{F2EE0B24-9F7C-4D29-B6D6-E9BA04E7B744}" type="sibTrans" cxnId="{9CC252C8-2646-4F8E-BDB1-BF33AAA2B102}">
      <dgm:prSet/>
      <dgm:spPr/>
      <dgm:t>
        <a:bodyPr/>
        <a:lstStyle/>
        <a:p>
          <a:endParaRPr lang="en-US"/>
        </a:p>
      </dgm:t>
    </dgm:pt>
    <dgm:pt modelId="{C6B09026-B955-4FA0-AE2E-69973A0D3188}">
      <dgm:prSet/>
      <dgm:spPr/>
      <dgm:t>
        <a:bodyPr/>
        <a:lstStyle/>
        <a:p>
          <a:r>
            <a:rPr lang="en-US" b="1"/>
            <a:t>Granularity:</a:t>
          </a:r>
          <a:r>
            <a:rPr lang="en-US"/>
            <a:t> Hierarchical data covering National, State, District, and Sub-District levels.</a:t>
          </a:r>
        </a:p>
      </dgm:t>
    </dgm:pt>
    <dgm:pt modelId="{BAECB15C-CA76-4C50-B396-28CF99A7607C}" type="parTrans" cxnId="{4E1A31F1-7DFD-4771-8AE2-B80C32FB408C}">
      <dgm:prSet/>
      <dgm:spPr/>
      <dgm:t>
        <a:bodyPr/>
        <a:lstStyle/>
        <a:p>
          <a:endParaRPr lang="en-US"/>
        </a:p>
      </dgm:t>
    </dgm:pt>
    <dgm:pt modelId="{D5B875F5-1EBC-47B8-82DE-2ABD28023F19}" type="sibTrans" cxnId="{4E1A31F1-7DFD-4771-8AE2-B80C32FB408C}">
      <dgm:prSet/>
      <dgm:spPr/>
      <dgm:t>
        <a:bodyPr/>
        <a:lstStyle/>
        <a:p>
          <a:endParaRPr lang="en-US"/>
        </a:p>
      </dgm:t>
    </dgm:pt>
    <dgm:pt modelId="{696153E2-EEEA-4803-90F0-8F25D2F02117}">
      <dgm:prSet/>
      <dgm:spPr/>
      <dgm:t>
        <a:bodyPr/>
        <a:lstStyle/>
        <a:p>
          <a:r>
            <a:rPr lang="en-US" b="1" dirty="0"/>
            <a:t>Key Variables:</a:t>
          </a:r>
          <a:r>
            <a:rPr lang="en-US" dirty="0"/>
            <a:t> Population (TOT_P), Literacy (P_LIT), Workforce (MAINWORK_P), Social Groups (P_SC, P_ST).</a:t>
          </a:r>
        </a:p>
      </dgm:t>
    </dgm:pt>
    <dgm:pt modelId="{774B4A8B-3AED-4F3F-AD18-DC143EA4193D}" type="parTrans" cxnId="{EA8FB9FC-7BB8-4A92-AFBE-E6E9976F06E5}">
      <dgm:prSet/>
      <dgm:spPr/>
      <dgm:t>
        <a:bodyPr/>
        <a:lstStyle/>
        <a:p>
          <a:endParaRPr lang="en-US"/>
        </a:p>
      </dgm:t>
    </dgm:pt>
    <dgm:pt modelId="{802D3CCC-1D32-496C-A332-5CE1742F1B26}" type="sibTrans" cxnId="{EA8FB9FC-7BB8-4A92-AFBE-E6E9976F06E5}">
      <dgm:prSet/>
      <dgm:spPr/>
      <dgm:t>
        <a:bodyPr/>
        <a:lstStyle/>
        <a:p>
          <a:endParaRPr lang="en-US"/>
        </a:p>
      </dgm:t>
    </dgm:pt>
    <dgm:pt modelId="{D5A0A57B-9B35-4CA8-91B1-B45D56775962}" type="pres">
      <dgm:prSet presAssocID="{41FB3292-C32C-445E-9F4D-AE28C4ED4564}" presName="linear" presStyleCnt="0">
        <dgm:presLayoutVars>
          <dgm:animLvl val="lvl"/>
          <dgm:resizeHandles val="exact"/>
        </dgm:presLayoutVars>
      </dgm:prSet>
      <dgm:spPr/>
    </dgm:pt>
    <dgm:pt modelId="{FBE25C97-B242-45A0-9470-5889FC1BACA6}" type="pres">
      <dgm:prSet presAssocID="{950F5840-D0FB-41CC-A526-792DE072A9D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755E121-6F54-4F1C-8477-C8A4BF9C8E82}" type="pres">
      <dgm:prSet presAssocID="{698CDD78-721A-4E70-8560-C52EF3B1D582}" presName="spacer" presStyleCnt="0"/>
      <dgm:spPr/>
    </dgm:pt>
    <dgm:pt modelId="{2182A9B9-5C24-4D9B-9228-34815C8572E5}" type="pres">
      <dgm:prSet presAssocID="{9041A175-61F5-4C60-8E7B-9A81FB6B2B5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F63F006-67E9-41AF-9091-CD12FB6764F8}" type="pres">
      <dgm:prSet presAssocID="{960D3F76-0EB3-4D7C-ABF1-02B21D1AF913}" presName="spacer" presStyleCnt="0"/>
      <dgm:spPr/>
    </dgm:pt>
    <dgm:pt modelId="{EF2DDFBE-5455-4F90-98FE-2B29DCCB9F92}" type="pres">
      <dgm:prSet presAssocID="{EDB5A7EB-45A1-447E-856C-CF3022216D7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4ED61B1-C8F3-4B8A-947A-E702C9212EB1}" type="pres">
      <dgm:prSet presAssocID="{F2EE0B24-9F7C-4D29-B6D6-E9BA04E7B744}" presName="spacer" presStyleCnt="0"/>
      <dgm:spPr/>
    </dgm:pt>
    <dgm:pt modelId="{71774C3E-5F5D-4731-845B-A92EB6BA7EAB}" type="pres">
      <dgm:prSet presAssocID="{C6B09026-B955-4FA0-AE2E-69973A0D318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AB9D07F-EFA9-4CF5-B39E-AD343E036D0E}" type="pres">
      <dgm:prSet presAssocID="{D5B875F5-1EBC-47B8-82DE-2ABD28023F19}" presName="spacer" presStyleCnt="0"/>
      <dgm:spPr/>
    </dgm:pt>
    <dgm:pt modelId="{3D947D0E-8044-4EA2-AF0B-01358DEB5079}" type="pres">
      <dgm:prSet presAssocID="{696153E2-EEEA-4803-90F0-8F25D2F0211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C889602-6380-42AC-A2DE-4CE8C149623F}" srcId="{41FB3292-C32C-445E-9F4D-AE28C4ED4564}" destId="{950F5840-D0FB-41CC-A526-792DE072A9DB}" srcOrd="0" destOrd="0" parTransId="{5A9A7174-89F5-4F11-A436-948FB05D9990}" sibTransId="{698CDD78-721A-4E70-8560-C52EF3B1D582}"/>
    <dgm:cxn modelId="{0FCCC767-BEA4-461B-AE7B-9B8F13EBFF36}" type="presOf" srcId="{696153E2-EEEA-4803-90F0-8F25D2F02117}" destId="{3D947D0E-8044-4EA2-AF0B-01358DEB5079}" srcOrd="0" destOrd="0" presId="urn:microsoft.com/office/officeart/2005/8/layout/vList2"/>
    <dgm:cxn modelId="{253A8A6B-D8F0-4628-97E4-11CCE97348C1}" type="presOf" srcId="{EDB5A7EB-45A1-447E-856C-CF3022216D77}" destId="{EF2DDFBE-5455-4F90-98FE-2B29DCCB9F92}" srcOrd="0" destOrd="0" presId="urn:microsoft.com/office/officeart/2005/8/layout/vList2"/>
    <dgm:cxn modelId="{209DF79A-EB14-4508-A05A-73E8700D2D73}" type="presOf" srcId="{C6B09026-B955-4FA0-AE2E-69973A0D3188}" destId="{71774C3E-5F5D-4731-845B-A92EB6BA7EAB}" srcOrd="0" destOrd="0" presId="urn:microsoft.com/office/officeart/2005/8/layout/vList2"/>
    <dgm:cxn modelId="{17F58CC1-783E-4002-96C6-E8B6DC6FEA17}" type="presOf" srcId="{950F5840-D0FB-41CC-A526-792DE072A9DB}" destId="{FBE25C97-B242-45A0-9470-5889FC1BACA6}" srcOrd="0" destOrd="0" presId="urn:microsoft.com/office/officeart/2005/8/layout/vList2"/>
    <dgm:cxn modelId="{0F4454C5-2173-4A59-91AB-D86BC23E56D4}" type="presOf" srcId="{9041A175-61F5-4C60-8E7B-9A81FB6B2B53}" destId="{2182A9B9-5C24-4D9B-9228-34815C8572E5}" srcOrd="0" destOrd="0" presId="urn:microsoft.com/office/officeart/2005/8/layout/vList2"/>
    <dgm:cxn modelId="{9CC252C8-2646-4F8E-BDB1-BF33AAA2B102}" srcId="{41FB3292-C32C-445E-9F4D-AE28C4ED4564}" destId="{EDB5A7EB-45A1-447E-856C-CF3022216D77}" srcOrd="2" destOrd="0" parTransId="{C115F5F3-972D-4AC5-B8CB-90B56581F386}" sibTransId="{F2EE0B24-9F7C-4D29-B6D6-E9BA04E7B744}"/>
    <dgm:cxn modelId="{EB77B8C9-E0BC-4B96-BED7-40AE53D295CA}" srcId="{41FB3292-C32C-445E-9F4D-AE28C4ED4564}" destId="{9041A175-61F5-4C60-8E7B-9A81FB6B2B53}" srcOrd="1" destOrd="0" parTransId="{5F9469D5-E426-499D-B6D9-6D60AFBC2D35}" sibTransId="{960D3F76-0EB3-4D7C-ABF1-02B21D1AF913}"/>
    <dgm:cxn modelId="{4D22A7E8-0512-40FC-A520-5BA0EEB6B2A0}" type="presOf" srcId="{41FB3292-C32C-445E-9F4D-AE28C4ED4564}" destId="{D5A0A57B-9B35-4CA8-91B1-B45D56775962}" srcOrd="0" destOrd="0" presId="urn:microsoft.com/office/officeart/2005/8/layout/vList2"/>
    <dgm:cxn modelId="{4E1A31F1-7DFD-4771-8AE2-B80C32FB408C}" srcId="{41FB3292-C32C-445E-9F4D-AE28C4ED4564}" destId="{C6B09026-B955-4FA0-AE2E-69973A0D3188}" srcOrd="3" destOrd="0" parTransId="{BAECB15C-CA76-4C50-B396-28CF99A7607C}" sibTransId="{D5B875F5-1EBC-47B8-82DE-2ABD28023F19}"/>
    <dgm:cxn modelId="{EA8FB9FC-7BB8-4A92-AFBE-E6E9976F06E5}" srcId="{41FB3292-C32C-445E-9F4D-AE28C4ED4564}" destId="{696153E2-EEEA-4803-90F0-8F25D2F02117}" srcOrd="4" destOrd="0" parTransId="{774B4A8B-3AED-4F3F-AD18-DC143EA4193D}" sibTransId="{802D3CCC-1D32-496C-A332-5CE1742F1B26}"/>
    <dgm:cxn modelId="{548644E8-81E1-454A-B9BE-85186EB3C796}" type="presParOf" srcId="{D5A0A57B-9B35-4CA8-91B1-B45D56775962}" destId="{FBE25C97-B242-45A0-9470-5889FC1BACA6}" srcOrd="0" destOrd="0" presId="urn:microsoft.com/office/officeart/2005/8/layout/vList2"/>
    <dgm:cxn modelId="{DF85F8AF-E6A1-4A61-B865-7EEAE9F66DC1}" type="presParOf" srcId="{D5A0A57B-9B35-4CA8-91B1-B45D56775962}" destId="{9755E121-6F54-4F1C-8477-C8A4BF9C8E82}" srcOrd="1" destOrd="0" presId="urn:microsoft.com/office/officeart/2005/8/layout/vList2"/>
    <dgm:cxn modelId="{968FE6FE-0470-46EB-92F2-7D1133A87D27}" type="presParOf" srcId="{D5A0A57B-9B35-4CA8-91B1-B45D56775962}" destId="{2182A9B9-5C24-4D9B-9228-34815C8572E5}" srcOrd="2" destOrd="0" presId="urn:microsoft.com/office/officeart/2005/8/layout/vList2"/>
    <dgm:cxn modelId="{A025B28B-33F7-45B9-AD37-5CB1B8FBF1A2}" type="presParOf" srcId="{D5A0A57B-9B35-4CA8-91B1-B45D56775962}" destId="{4F63F006-67E9-41AF-9091-CD12FB6764F8}" srcOrd="3" destOrd="0" presId="urn:microsoft.com/office/officeart/2005/8/layout/vList2"/>
    <dgm:cxn modelId="{4B38D15B-7FC6-4A31-B8C9-55BE11D8935B}" type="presParOf" srcId="{D5A0A57B-9B35-4CA8-91B1-B45D56775962}" destId="{EF2DDFBE-5455-4F90-98FE-2B29DCCB9F92}" srcOrd="4" destOrd="0" presId="urn:microsoft.com/office/officeart/2005/8/layout/vList2"/>
    <dgm:cxn modelId="{C3825D51-E7DD-4AE1-BD68-4B85C42B8ACE}" type="presParOf" srcId="{D5A0A57B-9B35-4CA8-91B1-B45D56775962}" destId="{54ED61B1-C8F3-4B8A-947A-E702C9212EB1}" srcOrd="5" destOrd="0" presId="urn:microsoft.com/office/officeart/2005/8/layout/vList2"/>
    <dgm:cxn modelId="{90ECC380-B61B-4919-A6EB-366E5178661C}" type="presParOf" srcId="{D5A0A57B-9B35-4CA8-91B1-B45D56775962}" destId="{71774C3E-5F5D-4731-845B-A92EB6BA7EAB}" srcOrd="6" destOrd="0" presId="urn:microsoft.com/office/officeart/2005/8/layout/vList2"/>
    <dgm:cxn modelId="{EC74DBCA-CAF9-4F81-A290-4029E1588607}" type="presParOf" srcId="{D5A0A57B-9B35-4CA8-91B1-B45D56775962}" destId="{8AB9D07F-EFA9-4CF5-B39E-AD343E036D0E}" srcOrd="7" destOrd="0" presId="urn:microsoft.com/office/officeart/2005/8/layout/vList2"/>
    <dgm:cxn modelId="{58EB1233-ED0E-41A1-9C4F-A31B659BD965}" type="presParOf" srcId="{D5A0A57B-9B35-4CA8-91B1-B45D56775962}" destId="{3D947D0E-8044-4EA2-AF0B-01358DEB507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E25C97-B242-45A0-9470-5889FC1BACA6}">
      <dsp:nvSpPr>
        <dsp:cNvPr id="0" name=""/>
        <dsp:cNvSpPr/>
      </dsp:nvSpPr>
      <dsp:spPr>
        <a:xfrm>
          <a:off x="0" y="25732"/>
          <a:ext cx="5588767" cy="9845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Source:</a:t>
          </a:r>
          <a:r>
            <a:rPr lang="en-US" sz="1800" kern="1200"/>
            <a:t> Government of India - Office of the Registrar General &amp; Census Commissioner.</a:t>
          </a:r>
        </a:p>
      </dsp:txBody>
      <dsp:txXfrm>
        <a:off x="48062" y="73794"/>
        <a:ext cx="5492643" cy="888431"/>
      </dsp:txXfrm>
    </dsp:sp>
    <dsp:sp modelId="{2182A9B9-5C24-4D9B-9228-34815C8572E5}">
      <dsp:nvSpPr>
        <dsp:cNvPr id="0" name=""/>
        <dsp:cNvSpPr/>
      </dsp:nvSpPr>
      <dsp:spPr>
        <a:xfrm>
          <a:off x="0" y="1062127"/>
          <a:ext cx="5588767" cy="984555"/>
        </a:xfrm>
        <a:prstGeom prst="roundRect">
          <a:avLst/>
        </a:prstGeom>
        <a:solidFill>
          <a:schemeClr val="accent2">
            <a:hueOff val="-741473"/>
            <a:satOff val="2915"/>
            <a:lumOff val="-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Dataset Name:</a:t>
          </a:r>
          <a:r>
            <a:rPr lang="en-US" sz="1800" kern="1200"/>
            <a:t> 2011-IndiaStateDistSbDist-0000.xlsx</a:t>
          </a:r>
        </a:p>
      </dsp:txBody>
      <dsp:txXfrm>
        <a:off x="48062" y="1110189"/>
        <a:ext cx="5492643" cy="888431"/>
      </dsp:txXfrm>
    </dsp:sp>
    <dsp:sp modelId="{EF2DDFBE-5455-4F90-98FE-2B29DCCB9F92}">
      <dsp:nvSpPr>
        <dsp:cNvPr id="0" name=""/>
        <dsp:cNvSpPr/>
      </dsp:nvSpPr>
      <dsp:spPr>
        <a:xfrm>
          <a:off x="0" y="2098522"/>
          <a:ext cx="5588767" cy="984555"/>
        </a:xfrm>
        <a:prstGeom prst="roundRect">
          <a:avLst/>
        </a:prstGeom>
        <a:solidFill>
          <a:schemeClr val="accent2">
            <a:hueOff val="-1482946"/>
            <a:satOff val="5830"/>
            <a:lumOff val="-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Shape:</a:t>
          </a:r>
          <a:r>
            <a:rPr lang="en-US" sz="1800" kern="1200"/>
            <a:t> 19,992 Rows × 94 Columns.</a:t>
          </a:r>
        </a:p>
      </dsp:txBody>
      <dsp:txXfrm>
        <a:off x="48062" y="2146584"/>
        <a:ext cx="5492643" cy="888431"/>
      </dsp:txXfrm>
    </dsp:sp>
    <dsp:sp modelId="{71774C3E-5F5D-4731-845B-A92EB6BA7EAB}">
      <dsp:nvSpPr>
        <dsp:cNvPr id="0" name=""/>
        <dsp:cNvSpPr/>
      </dsp:nvSpPr>
      <dsp:spPr>
        <a:xfrm>
          <a:off x="0" y="3134917"/>
          <a:ext cx="5588767" cy="984555"/>
        </a:xfrm>
        <a:prstGeom prst="roundRect">
          <a:avLst/>
        </a:prstGeom>
        <a:solidFill>
          <a:schemeClr val="accent2">
            <a:hueOff val="-2224418"/>
            <a:satOff val="874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Granularity:</a:t>
          </a:r>
          <a:r>
            <a:rPr lang="en-US" sz="1800" kern="1200"/>
            <a:t> Hierarchical data covering National, State, District, and Sub-District levels.</a:t>
          </a:r>
        </a:p>
      </dsp:txBody>
      <dsp:txXfrm>
        <a:off x="48062" y="3182979"/>
        <a:ext cx="5492643" cy="888431"/>
      </dsp:txXfrm>
    </dsp:sp>
    <dsp:sp modelId="{3D947D0E-8044-4EA2-AF0B-01358DEB5079}">
      <dsp:nvSpPr>
        <dsp:cNvPr id="0" name=""/>
        <dsp:cNvSpPr/>
      </dsp:nvSpPr>
      <dsp:spPr>
        <a:xfrm>
          <a:off x="0" y="4171312"/>
          <a:ext cx="5588767" cy="984555"/>
        </a:xfrm>
        <a:prstGeom prst="roundRect">
          <a:avLst/>
        </a:prstGeom>
        <a:solidFill>
          <a:schemeClr val="accent2">
            <a:hueOff val="-2965891"/>
            <a:satOff val="11659"/>
            <a:lumOff val="-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Key Variables:</a:t>
          </a:r>
          <a:r>
            <a:rPr lang="en-US" sz="1800" kern="1200" dirty="0"/>
            <a:t> Population (TOT_P), Literacy (P_LIT), Workforce (MAINWORK_P), Social Groups (P_SC, P_ST).</a:t>
          </a:r>
        </a:p>
      </dsp:txBody>
      <dsp:txXfrm>
        <a:off x="48062" y="4219374"/>
        <a:ext cx="5492643" cy="8884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8808-26D1-4F4B-96F4-F3082078D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008" y="1122362"/>
            <a:ext cx="8816632" cy="357155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0C639-B0CD-4365-98A9-C1E5FF6CF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008" y="5521960"/>
            <a:ext cx="8816632" cy="94487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80C52-E6BB-4B27-B5D8-2D33B249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C649-4A0C-4EF2-8FC1-2BCF0BF9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E03F2-D0FE-49BB-8AEC-E99C4DB2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A7CC8F-56A6-423D-B67A-8BA89D3EC911}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86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61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F01F-198D-4AAD-B4FB-AD3B4498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9438640" cy="4114800"/>
          </a:xfrm>
        </p:spPr>
        <p:txBody>
          <a:bodyPr anchor="t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BCC2B-311B-4FB6-B3A5-26F68055A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217160"/>
            <a:ext cx="9438640" cy="802640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CB73D-2D6B-4FA6-89A4-DCC89F80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0C188-FF43-44C1-A005-679168D5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1188-DA27-47B2-8176-31193EEC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130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5A25-7E99-42A8-8D6D-648EFE20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501DC-62B7-42BD-A941-D34E92719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5C5C1-4FD4-4958-99A0-BDADECA33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1B234-5D54-44E5-B41D-B205AAF5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7BCDB-6B96-45D6-B5E9-823A96EB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39C5F-F16F-4AFD-98D1-FA3BB96A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32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44C1F-0040-4BBF-81A6-FD2E3063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7978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894A7-1DA1-44C1-8ED0-71627943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24035"/>
            <a:ext cx="4997132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AB945-31E2-4B60-9076-CBB8F8594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4997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B3EA-2E84-4B8B-A104-81BD57742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5080" y="1824035"/>
            <a:ext cx="5000308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11AB8-302C-476E-B80A-AA739911E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5080" y="2505075"/>
            <a:ext cx="50003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47C29-FE34-4E6E-9921-78C54673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6B420-A9CE-4BB6-A653-5C3ABC7D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DF8FE-1179-4798-B16D-AF1DFA26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829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6F1A-0A68-4048-808F-CD7A9F3B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9592"/>
            <a:ext cx="10515600" cy="157322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CB3E6-5365-48F5-8D2A-0B002BA3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D8EE9-4D97-4B2F-8D38-41CB9EE77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C5952-0A27-4FAB-A3FD-12003787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72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08427-909D-4679-9192-BC99557A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E39A6-1E09-42B5-85B4-7E8B5AB2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38940-01DD-4C97-8649-E01C3B0E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98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3B3D-D568-40B4-A73A-1C8EA9AB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1818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86EB3-917A-43B7-85BB-D00B5D2F0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4798" y="987425"/>
            <a:ext cx="5840589" cy="50323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AC029-3BC1-4637-A7F9-BC786DC26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72360"/>
            <a:ext cx="3691817" cy="349662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0B948-89C5-4AC5-B7A0-17136F5C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6C8C5-652F-46CB-BD26-E262B057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B50CB-E91F-4B71-81F0-800F2B51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69B885-FDB8-4C62-A285-A0CDC49A6B0C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62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941E-6445-4840-81AE-104EF7A4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6652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8B866-E32B-4AE7-AEF3-6974AE328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86120" y="838200"/>
            <a:ext cx="560323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ABB7A-E157-499A-B224-C2313181F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67280"/>
            <a:ext cx="3696652" cy="35017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77283-E2B8-405E-BB6E-9F121140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21F05-EB94-417F-B19B-96FF3D9E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7C3C7-B6DB-4064-8E66-9FB770C8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E233FA-220A-423F-907E-5F81526A28A0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844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56D52-667C-4E67-9038-A0BDFD8C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E72AC-0272-475A-BD25-2AB7AC1DE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FBFF2-9ECB-4CDD-87FA-9DD1F87B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C12B3-DAF5-4BA7-A3A6-D0284716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171AE-4A11-4035-A072-9AC4053F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7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52E95-2F50-48D3-B00E-4C259644E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50174" y="838199"/>
            <a:ext cx="2303626" cy="5338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17C9B-4E02-49C8-B6DF-65ED3C990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38199"/>
            <a:ext cx="7734300" cy="5338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CA10C-AC31-4D80-B78F-08E48CDC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B5B7-F312-4BC9-A5D3-72E065D1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2E489-5442-4698-B6E3-3421A97C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3A7E1-F157-4338-B7F7-9C0A2D60B7FF}"/>
              </a:ext>
            </a:extLst>
          </p:cNvPr>
          <p:cNvCxnSpPr>
            <a:cxnSpLocks/>
          </p:cNvCxnSpPr>
          <p:nvPr/>
        </p:nvCxnSpPr>
        <p:spPr>
          <a:xfrm>
            <a:off x="881133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08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981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217BAF7-495D-4AE2-A669-84D390A78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colorful light bulb with business icons">
            <a:extLst>
              <a:ext uri="{FF2B5EF4-FFF2-40B4-BE49-F238E27FC236}">
                <a16:creationId xmlns:a16="http://schemas.microsoft.com/office/drawing/2014/main" id="{1CDBBB90-7F70-DFDC-8C37-0AADECB049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47" b="989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0239B030-DB2E-426C-94C8-B23C31360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75199" y="726177"/>
            <a:ext cx="5241603" cy="5343721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25805" h="5429563">
                <a:moveTo>
                  <a:pt x="5325805" y="2714782"/>
                </a:moveTo>
                <a:cubicBezTo>
                  <a:pt x="5325805" y="4214114"/>
                  <a:pt x="4110356" y="5429563"/>
                  <a:pt x="2611024" y="5429563"/>
                </a:cubicBezTo>
                <a:lnTo>
                  <a:pt x="1942188" y="5429563"/>
                </a:lnTo>
                <a:lnTo>
                  <a:pt x="668836" y="5429563"/>
                </a:lnTo>
                <a:lnTo>
                  <a:pt x="0" y="5429563"/>
                </a:lnTo>
                <a:lnTo>
                  <a:pt x="0" y="0"/>
                </a:lnTo>
                <a:lnTo>
                  <a:pt x="668836" y="0"/>
                </a:lnTo>
                <a:lnTo>
                  <a:pt x="1942188" y="0"/>
                </a:lnTo>
                <a:lnTo>
                  <a:pt x="2611024" y="0"/>
                </a:lnTo>
                <a:cubicBezTo>
                  <a:pt x="4110356" y="0"/>
                  <a:pt x="5325805" y="1215450"/>
                  <a:pt x="5325805" y="2714782"/>
                </a:cubicBezTo>
                <a:close/>
              </a:path>
            </a:pathLst>
          </a:custGeom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80C10-62B2-1A25-08EE-425503880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2549" y="1452880"/>
            <a:ext cx="4674231" cy="2852420"/>
          </a:xfrm>
        </p:spPr>
        <p:txBody>
          <a:bodyPr>
            <a:normAutofit/>
          </a:bodyPr>
          <a:lstStyle/>
          <a:p>
            <a:pPr algn="ctr"/>
            <a:r>
              <a:rPr lang="en-US" sz="4200"/>
              <a:t>INDIAN POPULATION AND DEMOGRAPHICS </a:t>
            </a:r>
            <a:endParaRPr lang="en-IN" sz="4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C0115B-FEEF-CB43-40BA-5E22216A1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2542" y="4628271"/>
            <a:ext cx="4346917" cy="1069144"/>
          </a:xfrm>
        </p:spPr>
        <p:txBody>
          <a:bodyPr>
            <a:normAutofit fontScale="850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1700" b="1" dirty="0">
                <a:latin typeface="Open Sauce Bold"/>
                <a:ea typeface="Open Sauce Bold"/>
                <a:cs typeface="Open Sauce Bold"/>
                <a:sym typeface="Open Sauce Bold"/>
              </a:rPr>
              <a:t>Exploratory Data Analysis (EDA) Project</a:t>
            </a:r>
          </a:p>
          <a:p>
            <a:pPr algn="ctr">
              <a:lnSpc>
                <a:spcPct val="100000"/>
              </a:lnSpc>
            </a:pPr>
            <a:r>
              <a:rPr lang="en-IN" sz="1700" dirty="0"/>
              <a:t>BY</a:t>
            </a:r>
            <a:br>
              <a:rPr lang="en-IN" sz="1700" dirty="0"/>
            </a:br>
            <a:r>
              <a:rPr lang="en-IN" sz="1700" dirty="0"/>
              <a:t>RISHI NAGA SAI MUKKA</a:t>
            </a:r>
          </a:p>
          <a:p>
            <a:pPr algn="ctr">
              <a:lnSpc>
                <a:spcPct val="100000"/>
              </a:lnSpc>
            </a:pPr>
            <a:r>
              <a:rPr lang="en-IN" sz="1700" dirty="0"/>
              <a:t>Reg No: 12305908</a:t>
            </a:r>
          </a:p>
        </p:txBody>
      </p:sp>
    </p:spTree>
    <p:extLst>
      <p:ext uri="{BB962C8B-B14F-4D97-AF65-F5344CB8AC3E}">
        <p14:creationId xmlns:p14="http://schemas.microsoft.com/office/powerpoint/2010/main" val="166391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9372631-E04E-4BD9-A3CC-25F69FA35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F768B-3FBB-085D-D749-A8739A56B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420" y="838200"/>
            <a:ext cx="3840226" cy="5334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Data Collection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200CA7E-42AB-4F9C-8519-0EBCEC0AF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extBox 2">
            <a:extLst>
              <a:ext uri="{FF2B5EF4-FFF2-40B4-BE49-F238E27FC236}">
                <a16:creationId xmlns:a16="http://schemas.microsoft.com/office/drawing/2014/main" id="{D3C09165-7D93-BC08-26D2-D5AB15F486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079628"/>
              </p:ext>
            </p:extLst>
          </p:nvPr>
        </p:nvGraphicFramePr>
        <p:xfrm>
          <a:off x="5814812" y="838200"/>
          <a:ext cx="5588767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0416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2854FB4-497A-4904-92CC-4C2786A1E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3A2950-228E-D582-0259-2E50D81A3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9"/>
            <a:ext cx="5158739" cy="16354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Data Exploration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D6C7E6-513E-4AAE-F0AB-B155BD6F093C}"/>
              </a:ext>
            </a:extLst>
          </p:cNvPr>
          <p:cNvSpPr txBox="1"/>
          <p:nvPr/>
        </p:nvSpPr>
        <p:spPr>
          <a:xfrm>
            <a:off x="838201" y="2672370"/>
            <a:ext cx="5053928" cy="3504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US" altLang="en-US" sz="1400" b="1" dirty="0"/>
              <a:t>Unique Data Structure:</a:t>
            </a:r>
            <a:endParaRPr lang="en-US" altLang="en-US" sz="1400" dirty="0"/>
          </a:p>
          <a:p>
            <a:pPr lvl="0" fontAlgn="base">
              <a:spcBef>
                <a:spcPct val="0"/>
              </a:spcBef>
              <a:spcAft>
                <a:spcPts val="600"/>
              </a:spcAft>
              <a:buSzPct val="80000"/>
            </a:pPr>
            <a:r>
              <a:rPr lang="en-US" altLang="en-US" sz="1400" dirty="0"/>
              <a:t>     The raw dataset stacks multiple levels of administrative hierarchy      within a single file.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US" altLang="en-US" sz="1400" b="1" dirty="0"/>
              <a:t>The Aggregation Problem:</a:t>
            </a:r>
            <a:endParaRPr lang="en-US" altLang="en-US" sz="1400" dirty="0"/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US" altLang="en-US" sz="1400" b="1" dirty="0"/>
              <a:t>Level 1:</a:t>
            </a:r>
            <a:r>
              <a:rPr lang="en-US" altLang="en-US" sz="1400" dirty="0"/>
              <a:t> Row 1 represents the entire nation (India Total).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US" altLang="en-US" sz="1400" b="1" dirty="0"/>
              <a:t>Level 2:</a:t>
            </a:r>
            <a:r>
              <a:rPr lang="en-US" altLang="en-US" sz="1400" dirty="0"/>
              <a:t> Subsequent rows represent State totals.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US" altLang="en-US" sz="1400" b="1" dirty="0"/>
              <a:t>Level 3:</a:t>
            </a:r>
            <a:r>
              <a:rPr lang="en-US" altLang="en-US" sz="1400" dirty="0"/>
              <a:t> Further rows represent District totals.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US" altLang="en-US" sz="1400" b="1" dirty="0"/>
              <a:t>The Analytical Risk:</a:t>
            </a:r>
            <a:endParaRPr lang="en-US" altLang="en-US" sz="1400" dirty="0"/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US" altLang="en-US" sz="1400" dirty="0"/>
              <a:t>A naive summation (e.g., </a:t>
            </a:r>
            <a:r>
              <a:rPr lang="en-US" altLang="en-US" sz="1400" dirty="0" err="1"/>
              <a:t>df</a:t>
            </a:r>
            <a:r>
              <a:rPr lang="en-US" altLang="en-US" sz="1400" dirty="0"/>
              <a:t>['Population'].sum()) adds National + State + District + Sub-district totals together.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US" altLang="en-US" sz="1400" b="1" dirty="0"/>
              <a:t>Result:</a:t>
            </a:r>
            <a:r>
              <a:rPr lang="en-US" altLang="en-US" sz="1400" dirty="0"/>
              <a:t> "Double Counting" error, inflating the population to </a:t>
            </a:r>
            <a:r>
              <a:rPr lang="en-US" altLang="en-US" sz="1400" dirty="0" err="1"/>
              <a:t>approx</a:t>
            </a:r>
            <a:r>
              <a:rPr lang="en-US" altLang="en-US" sz="1400" dirty="0"/>
              <a:t> </a:t>
            </a:r>
            <a:r>
              <a:rPr lang="en-US" altLang="en-US" sz="1400" b="1" dirty="0"/>
              <a:t>4x the actual value</a:t>
            </a:r>
            <a:r>
              <a:rPr lang="en-US" altLang="en-US" sz="1400" dirty="0"/>
              <a:t>.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</a:pPr>
            <a:endParaRPr lang="en-US" altLang="en-US" sz="1400" dirty="0"/>
          </a:p>
          <a:p>
            <a:pPr indent="-228600">
              <a:spcAft>
                <a:spcPts val="600"/>
              </a:spcAft>
              <a:buSzPct val="80000"/>
            </a:pPr>
            <a:endParaRPr lang="en-US" sz="1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883E84-3640-43A5-9526-442521C03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4654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FBB6CA-FB5A-5E91-ADC6-266EB19B4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713" y="838200"/>
            <a:ext cx="3096006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1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1632296-55BF-450A-8C60-CC2336F5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5EDB1B-07E0-6FC1-6C78-CFCEEFF21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835" y="4611485"/>
            <a:ext cx="4173417" cy="17448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600" dirty="0"/>
              <a:t>Dataset Overview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5EBE9C-92B4-A185-4811-427907E84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5" y="1172817"/>
            <a:ext cx="6007673" cy="2166731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7A4A8A3-3062-4846-8297-28B77B507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A4A5776-D97D-E683-D783-18D2BA138B9D}"/>
              </a:ext>
            </a:extLst>
          </p:cNvPr>
          <p:cNvSpPr txBox="1"/>
          <p:nvPr/>
        </p:nvSpPr>
        <p:spPr>
          <a:xfrm>
            <a:off x="7138289" y="838200"/>
            <a:ext cx="4215510" cy="5265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US" altLang="en-US" sz="1700" b="1" dirty="0"/>
              <a:t>Data Source:</a:t>
            </a:r>
            <a:endParaRPr lang="en-US" altLang="en-US" sz="1700" dirty="0"/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US" altLang="en-US" sz="1700" b="1" dirty="0"/>
              <a:t>Origin:</a:t>
            </a:r>
            <a:r>
              <a:rPr lang="en-US" altLang="en-US" sz="1700" dirty="0"/>
              <a:t> Census of India 2011, Office of the Registrar General &amp; Census Commissioner.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US" altLang="en-US" sz="1700" b="1" dirty="0"/>
              <a:t>File:</a:t>
            </a:r>
            <a:r>
              <a:rPr lang="en-US" altLang="en-US" sz="1700" dirty="0"/>
              <a:t> 2011-IndiaStateDistSbDist-0000.xlsx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US" altLang="en-US" sz="1700" b="1" dirty="0"/>
              <a:t>Scale &amp; Dimensions:</a:t>
            </a:r>
            <a:endParaRPr lang="en-US" altLang="en-US" sz="1700" dirty="0"/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US" altLang="en-US" sz="1700" b="1" dirty="0"/>
              <a:t>Coverage:</a:t>
            </a:r>
            <a:r>
              <a:rPr lang="en-US" altLang="en-US" sz="1700" dirty="0"/>
              <a:t> Comprehensive Pan-India data covering 35 States/UTs and </a:t>
            </a:r>
            <a:r>
              <a:rPr lang="en-US" altLang="en-US" sz="1700" b="1" dirty="0"/>
              <a:t>640 Districts</a:t>
            </a:r>
            <a:r>
              <a:rPr lang="en-US" altLang="en-US" sz="1700" dirty="0"/>
              <a:t>.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US" altLang="en-US" sz="1700" b="1" dirty="0"/>
              <a:t>Volume:</a:t>
            </a:r>
            <a:r>
              <a:rPr lang="en-US" altLang="en-US" sz="1700" dirty="0"/>
              <a:t> The dataset consists of </a:t>
            </a:r>
            <a:r>
              <a:rPr lang="en-US" altLang="en-US" sz="1700" b="1" dirty="0"/>
              <a:t>19,992 rows</a:t>
            </a:r>
            <a:r>
              <a:rPr lang="en-US" altLang="en-US" sz="1700" dirty="0"/>
              <a:t> and </a:t>
            </a:r>
            <a:r>
              <a:rPr lang="en-US" altLang="en-US" sz="1700" b="1" dirty="0"/>
              <a:t>94 columns</a:t>
            </a:r>
            <a:r>
              <a:rPr lang="en-US" altLang="en-US" sz="1700" dirty="0"/>
              <a:t>.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US" altLang="en-US" sz="1700" b="1" dirty="0"/>
              <a:t>Key Variables Analyzed:</a:t>
            </a:r>
            <a:endParaRPr lang="en-US" altLang="en-US" sz="1700" dirty="0"/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US" altLang="en-US" sz="1700" b="1" dirty="0"/>
              <a:t>Demographic:</a:t>
            </a:r>
            <a:r>
              <a:rPr lang="en-US" altLang="en-US" sz="1700" dirty="0"/>
              <a:t> TOT_P (Total Population), TOT_M / TOT_F (Gender Breakdown).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US" altLang="en-US" sz="1700" b="1" dirty="0"/>
              <a:t>Social:</a:t>
            </a:r>
            <a:r>
              <a:rPr lang="en-US" altLang="en-US" sz="1700" dirty="0"/>
              <a:t> P_LIT (Literacy Counts), P_SC / P_ST (Caste &amp; Tribe Status).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US" altLang="en-US" sz="1700" b="1" dirty="0"/>
              <a:t>Economic:</a:t>
            </a:r>
            <a:r>
              <a:rPr lang="en-US" altLang="en-US" sz="1700" dirty="0"/>
              <a:t> MAINWORK_P (Main Workforce), MARGWORK_P (Marginal Workforce).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SzPct val="80000"/>
            </a:pPr>
            <a:endParaRPr lang="en-US" altLang="en-US" sz="1700" dirty="0"/>
          </a:p>
          <a:p>
            <a:pPr indent="-228600">
              <a:spcAft>
                <a:spcPts val="600"/>
              </a:spcAft>
              <a:buSzPct val="80000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670346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E9381A5-DFBB-4B95-B7BC-AFB0897BD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21E1B2-4945-CD82-AF2F-EA7D71067F9D}"/>
              </a:ext>
            </a:extLst>
          </p:cNvPr>
          <p:cNvSpPr txBox="1"/>
          <p:nvPr/>
        </p:nvSpPr>
        <p:spPr>
          <a:xfrm>
            <a:off x="566532" y="838200"/>
            <a:ext cx="3438937" cy="5181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Feature Engineering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A4A5E9-8427-439C-A3EB-48C612A3D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C9567BC-8D1C-BDF9-3BF3-6C3DD48365DD}"/>
              </a:ext>
            </a:extLst>
          </p:cNvPr>
          <p:cNvSpPr txBox="1"/>
          <p:nvPr/>
        </p:nvSpPr>
        <p:spPr>
          <a:xfrm>
            <a:off x="4883277" y="838200"/>
            <a:ext cx="5922696" cy="5181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Objective: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Raw counts (e.g., "50,000 literate people") are misleading when comparing districts of vastly different sizes.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Solution: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Created normalized metrics (Rates &amp; Ratios) to enable "Apples-to-Apples" comparison.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Key Features Created: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Literacy Rate (%):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lang="en-IN" dirty="0"/>
              <a:t>(Literate Population ÷ Total Population) × 100</a:t>
            </a:r>
            <a:endParaRPr lang="en-US" dirty="0"/>
          </a:p>
          <a:p>
            <a:pPr marL="228600" lvl="1" fontAlgn="base">
              <a:spcBef>
                <a:spcPct val="0"/>
              </a:spcBef>
              <a:spcAft>
                <a:spcPts val="600"/>
              </a:spcAft>
              <a:buSzPct val="80000"/>
            </a:pPr>
            <a:r>
              <a:rPr lang="en-IN" b="1" dirty="0"/>
              <a:t>Sex Ratio</a:t>
            </a:r>
            <a:r>
              <a:rPr lang="en-IN" dirty="0"/>
              <a:t> = (Female Population ÷ Male Population) × 1000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1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</a:rPr>
              <a:t>Standard demographic metric used in India.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Work Participation Rate (WPR):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Formula: </a:t>
            </a:r>
            <a:r>
              <a:rPr lang="en-US" dirty="0"/>
              <a:t>(Total Workers ÷ Total Population) × 100</a:t>
            </a:r>
          </a:p>
          <a:p>
            <a:pPr marL="228600" lvl="1" fontAlgn="base">
              <a:spcBef>
                <a:spcPct val="0"/>
              </a:spcBef>
              <a:spcAft>
                <a:spcPts val="600"/>
              </a:spcAft>
              <a:buSzPct val="80000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Marginal Work Rate: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SzPct val="80000"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Formula:</a:t>
            </a:r>
            <a:r>
              <a:rPr lang="en-US" dirty="0"/>
              <a:t>(Marginal Workers ÷ Total Workers) × 100</a:t>
            </a:r>
          </a:p>
          <a:p>
            <a:pPr marL="228600" marR="0" lvl="1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6099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2854FB4-497A-4904-92CC-4C2786A1E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5DD23E-FC8C-1371-1319-077E1D860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9"/>
            <a:ext cx="5158739" cy="16354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/>
              <a:t>Univariate Analysis - Population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B0962C-1F7E-0D94-9FEA-BA65363E78B0}"/>
              </a:ext>
            </a:extLst>
          </p:cNvPr>
          <p:cNvSpPr txBox="1"/>
          <p:nvPr/>
        </p:nvSpPr>
        <p:spPr>
          <a:xfrm>
            <a:off x="838201" y="2672370"/>
            <a:ext cx="5053928" cy="3504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en-US" sz="1400" b="1" dirty="0"/>
              <a:t>The "Long Tail" Phenomenon:</a:t>
            </a:r>
            <a:endParaRPr lang="en-US" sz="1400" dirty="0"/>
          </a:p>
          <a:p>
            <a:pPr marL="742950" lvl="1"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en-US" sz="1400" dirty="0"/>
              <a:t>The histogram reveals a highly </a:t>
            </a:r>
            <a:r>
              <a:rPr lang="en-US" sz="1400" b="1" dirty="0"/>
              <a:t>Right-Skewed Distribution</a:t>
            </a:r>
            <a:r>
              <a:rPr lang="en-US" sz="1400" dirty="0"/>
              <a:t>.</a:t>
            </a:r>
          </a:p>
          <a:p>
            <a:pPr marL="742950" lvl="1"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en-US" sz="1400" b="1" dirty="0"/>
              <a:t>Cluster:</a:t>
            </a:r>
            <a:r>
              <a:rPr lang="en-US" sz="1400" dirty="0"/>
              <a:t> The vast majority of India's 640 districts are clustered on the left, with populations under </a:t>
            </a:r>
            <a:r>
              <a:rPr lang="en-US" sz="1400" b="1" dirty="0"/>
              <a:t>2 Million</a:t>
            </a:r>
            <a:r>
              <a:rPr lang="en-US" sz="1400" dirty="0"/>
              <a:t>.</a:t>
            </a:r>
          </a:p>
          <a:p>
            <a:pPr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en-US" sz="1400" b="1" dirty="0"/>
              <a:t>The Outliers (Mega-Districts):</a:t>
            </a:r>
            <a:endParaRPr lang="en-US" sz="1400" dirty="0"/>
          </a:p>
          <a:p>
            <a:pPr marL="742950" lvl="1"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en-US" sz="1400" dirty="0"/>
              <a:t>The tail extends far to the right, representing massive urban districts like </a:t>
            </a:r>
            <a:r>
              <a:rPr lang="en-US" sz="1400" b="1" dirty="0"/>
              <a:t>Thane</a:t>
            </a:r>
            <a:r>
              <a:rPr lang="en-US" sz="1400" dirty="0"/>
              <a:t> and </a:t>
            </a:r>
            <a:r>
              <a:rPr lang="en-US" sz="1400" b="1" dirty="0"/>
              <a:t>North 24 Parganas</a:t>
            </a:r>
            <a:r>
              <a:rPr lang="en-US" sz="1400" dirty="0"/>
              <a:t> (10 Million+).</a:t>
            </a:r>
          </a:p>
          <a:p>
            <a:pPr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en-US" sz="1400" b="1" dirty="0"/>
              <a:t>Key Insight:</a:t>
            </a:r>
            <a:endParaRPr lang="en-US" sz="1400" dirty="0"/>
          </a:p>
          <a:p>
            <a:pPr marL="742950" lvl="1"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en-US" sz="1400" dirty="0"/>
              <a:t>The "Average District" size is misleading.</a:t>
            </a:r>
          </a:p>
          <a:p>
            <a:pPr marL="742950" lvl="1"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en-US" sz="1400" dirty="0"/>
              <a:t>Governance challenges vary drastically: managing a small hill district is fundamentally different from managing a district with the population of a small European country.</a:t>
            </a:r>
          </a:p>
          <a:p>
            <a:pPr indent="-228600">
              <a:spcAft>
                <a:spcPts val="600"/>
              </a:spcAft>
              <a:buSzPct val="80000"/>
              <a:buNone/>
            </a:pPr>
            <a:endParaRPr lang="en-US" sz="14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883E84-3640-43A5-9526-442521C03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4654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graph of a distribution of population&#10;&#10;AI-generated content may be incorrect.">
            <a:extLst>
              <a:ext uri="{FF2B5EF4-FFF2-40B4-BE49-F238E27FC236}">
                <a16:creationId xmlns:a16="http://schemas.microsoft.com/office/drawing/2014/main" id="{682C84F3-FA96-1707-CBB7-D26DF32F6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080" y="1723339"/>
            <a:ext cx="4285625" cy="310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99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1632296-55BF-450A-8C60-CC2336F5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E06C04-95AD-CB57-BC62-DB57A0B74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835" y="4611485"/>
            <a:ext cx="4173417" cy="17448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600"/>
              <a:t>Insights Found - The Literacy Landscape</a:t>
            </a:r>
          </a:p>
        </p:txBody>
      </p:sp>
      <p:pic>
        <p:nvPicPr>
          <p:cNvPr id="9" name="Picture 8" descr="A chart with different colors&#10;&#10;AI-generated content may be incorrect.">
            <a:extLst>
              <a:ext uri="{FF2B5EF4-FFF2-40B4-BE49-F238E27FC236}">
                <a16:creationId xmlns:a16="http://schemas.microsoft.com/office/drawing/2014/main" id="{5D3876B4-EB9F-52A6-0AE4-DC8B901A7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2" y="1558288"/>
            <a:ext cx="6271134" cy="191269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7A4A8A3-3062-4846-8297-28B77B507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2F00BBC-3AB2-88EC-5F4B-9CD11C3D7A92}"/>
              </a:ext>
            </a:extLst>
          </p:cNvPr>
          <p:cNvSpPr txBox="1"/>
          <p:nvPr/>
        </p:nvSpPr>
        <p:spPr>
          <a:xfrm>
            <a:off x="7138289" y="838200"/>
            <a:ext cx="4215510" cy="5265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The National Picture: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lang="en-US" altLang="en-US" sz="1500" dirty="0"/>
              <a:t>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ndia's average literacy rate stands at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62.05%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sz="1500" b="0" i="1" u="none" strike="noStrike" cap="none" normalizeH="0" baseline="0" dirty="0">
                <a:ln>
                  <a:noFill/>
                </a:ln>
                <a:effectLst/>
              </a:rPr>
              <a:t>However, state-level disparities are extreme.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The "North-South Divide":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Top Performers: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Southern and North-Eastern states lead the chart.</a:t>
            </a:r>
          </a:p>
          <a:p>
            <a:pPr marL="457200" marR="0" lvl="1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Kerala: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~</a:t>
            </a:r>
            <a:r>
              <a:rPr lang="en-US" altLang="en-US" sz="1500" dirty="0"/>
              <a:t>85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% (Highest in India).</a:t>
            </a:r>
          </a:p>
          <a:p>
            <a:pPr marL="457200" marR="0" lvl="1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lang="en-US" altLang="en-US" sz="1500" b="1" dirty="0"/>
              <a:t>Lakshadweep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~</a:t>
            </a:r>
            <a:r>
              <a:rPr lang="en-US" altLang="en-US" sz="1500" dirty="0"/>
              <a:t>80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% (High tribal literacy).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The Laggards: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Northern and Central states fall significantly behind.</a:t>
            </a:r>
          </a:p>
          <a:p>
            <a:pPr marL="457200" marR="0" lvl="1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Bihar: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~</a:t>
            </a:r>
            <a:r>
              <a:rPr lang="en-US" altLang="en-US" sz="1500" dirty="0"/>
              <a:t>50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% (Lowest).</a:t>
            </a:r>
          </a:p>
          <a:p>
            <a:pPr marL="457200" marR="0" lvl="1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Rajasthan &amp; Jharkhand: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Struggle with rates below </a:t>
            </a:r>
            <a:r>
              <a:rPr lang="en-US" altLang="en-US" sz="1500" dirty="0"/>
              <a:t>57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%.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Key Takeaway: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Geography is a strong predictor of education. The "BIMARU" belt (Bihar, MP, Rajasthan, UP) continues to drag the national average down.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28369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2854FB4-497A-4904-92CC-4C2786A1E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3DADA-4699-CFA6-CFB4-9722FC15E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9"/>
            <a:ext cx="5158739" cy="16354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Bivariate Analysis - The Gender Gap in Literacy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8A598-FFCE-C6EF-07C8-DC8D17D548C5}"/>
              </a:ext>
            </a:extLst>
          </p:cNvPr>
          <p:cNvSpPr txBox="1"/>
          <p:nvPr/>
        </p:nvSpPr>
        <p:spPr>
          <a:xfrm>
            <a:off x="838201" y="2672370"/>
            <a:ext cx="5053928" cy="350459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endParaRPr kumimoji="0" lang="en-US" altLang="en-US" sz="1100" b="1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The Metric: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 Comparing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Male Literacy Rate (X-axis)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 vs.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Female Literacy Rate (Y-axis)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The "Equality Line" (Red Dashed Line):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Represents perfect gender equality (y=x), where Male Literacy = Female Literacy.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The Reality Check: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Universal Gap: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 Every single state bubble lies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below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 the red line.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Implication: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 There is no state in India where women are more literate than men.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Regional Disparities: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Best Performers (Top Right):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 Kerala and Mizoram are closest to the red line (Low Gap).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Worst Offenders (Bottom Center):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Rajasthan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 and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</a:rPr>
              <a:t>Jharkhand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</a:rPr>
              <a:t> show the furthest distance from the line, indicating extreme gender inequality.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883E84-3640-43A5-9526-442521C03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4654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aph with dots and lines&#10;&#10;AI-generated content may be incorrect.">
            <a:extLst>
              <a:ext uri="{FF2B5EF4-FFF2-40B4-BE49-F238E27FC236}">
                <a16:creationId xmlns:a16="http://schemas.microsoft.com/office/drawing/2014/main" id="{F6848AE5-5002-1214-BD22-322DB90A5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352" y="1829896"/>
            <a:ext cx="4056433" cy="325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40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6A86C60-F601-4C9C-A94A-580DCA3A1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8AF346-B2E6-7484-4D49-96FC8F10D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028" y="838201"/>
            <a:ext cx="3636915" cy="5334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Insights Found - The "Urban Penalty"</a:t>
            </a:r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82FDDB-12BA-4531-A762-4803DABD6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39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3E21588-744E-4FAB-F991-88C118418D2A}"/>
              </a:ext>
            </a:extLst>
          </p:cNvPr>
          <p:cNvSpPr txBox="1"/>
          <p:nvPr/>
        </p:nvSpPr>
        <p:spPr>
          <a:xfrm>
            <a:off x="5887100" y="838201"/>
            <a:ext cx="5463630" cy="40159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The Metric: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Sex Ratio (Number of Females per 1,000 Males).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The Counter-Intuitive Discovery: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Common belief: "Cities are more modern, so they should have better gender equality."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Data Reality: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Urban areas consistently show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lower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Sex Ratio than Rural areas.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Visual Evidence (Box Plot):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Rural (Pink) Box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has a higher median value.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Urban (Blue) Box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is shifted lower, with many outliers dropping below 800.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The Driver: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Male-Selective Migration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Men from rural hinterlands migrate to industrial hubs (like Daman or Delhi) for work, leaving families behind. This artificially distorts the demographics of Indian cities.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7" name="Picture 6" descr="A diagram with a red line&#10;&#10;AI-generated content may be incorrect.">
            <a:extLst>
              <a:ext uri="{FF2B5EF4-FFF2-40B4-BE49-F238E27FC236}">
                <a16:creationId xmlns:a16="http://schemas.microsoft.com/office/drawing/2014/main" id="{3F6EFFF6-8071-C9B6-DE5A-C04B99E71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8" y="3668714"/>
            <a:ext cx="4679414" cy="250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322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CF03A2E-B266-4817-B378-45B9DC3EC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D31628-B462-60B0-D50A-0A2B19BF4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3720" y="681039"/>
            <a:ext cx="5770080" cy="164052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Economic Sectors - The Structural Divide</a:t>
            </a:r>
          </a:p>
        </p:txBody>
      </p:sp>
      <p:pic>
        <p:nvPicPr>
          <p:cNvPr id="7" name="Picture 6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4BFBE99E-971B-BC50-5F8D-85054EB68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4" y="2096814"/>
            <a:ext cx="4569328" cy="269590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82FDDB-12BA-4531-A762-4803DABD6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4815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85B3DFF-7DCE-7240-2C87-A6E4EC77D1C3}"/>
              </a:ext>
            </a:extLst>
          </p:cNvPr>
          <p:cNvSpPr txBox="1"/>
          <p:nvPr/>
        </p:nvSpPr>
        <p:spPr>
          <a:xfrm>
            <a:off x="5583720" y="2672370"/>
            <a:ext cx="5770079" cy="3504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Objective: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To analyze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effectLst/>
              </a:rPr>
              <a:t>where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people actually work. (Comparison of 4 Census Categories: Cultivators, Agricultural Laborers, Household Industry, and Other Workers).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Urban Economy (The "Service" Engine):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Dominance: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The Green Bar (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"Other Workers"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) is massive (&gt;80%).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Meaning: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Urban India has successfully transitioned to a modern economy (Services, Manufacturing, IT, Government). Agriculture is negligible.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Rural Economy (The "Agrarian" Trap):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Dominance: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Split between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Cultivators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and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Agricultural Laborers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Critical Insight: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A significant portion of rural workers are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effectLst/>
              </a:rPr>
              <a:t>Agricultural Laborers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(working on others' land), not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effectLst/>
              </a:rPr>
              <a:t>Cultivators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(owners). This indicates high landlessness and economic dependency.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Conclusion: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There is no "mixed" economy. You are either fully Agrarian (Rural) or fully Service-based (Urban).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41854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A99DC40-3BC6-4459-BFDB-2DE74650F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DA38B-CD2A-5CA7-B46C-E0654E514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028" y="1496937"/>
            <a:ext cx="3636915" cy="46752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/>
              <a:t>Insights Found - Workforce Vulnerability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82FDDB-12BA-4531-A762-4803DABD6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39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aph of the states with the highest proportion of marginal workers&#10;&#10;AI-generated content may be incorrect.">
            <a:extLst>
              <a:ext uri="{FF2B5EF4-FFF2-40B4-BE49-F238E27FC236}">
                <a16:creationId xmlns:a16="http://schemas.microsoft.com/office/drawing/2014/main" id="{DAE9EDA4-FA8F-132A-A22F-C361A8133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0" y="1148103"/>
            <a:ext cx="5009893" cy="24673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568643-0EE9-7786-78DB-7C0A49931D00}"/>
              </a:ext>
            </a:extLst>
          </p:cNvPr>
          <p:cNvSpPr txBox="1"/>
          <p:nvPr/>
        </p:nvSpPr>
        <p:spPr>
          <a:xfrm>
            <a:off x="5575814" y="1648649"/>
            <a:ext cx="5836155" cy="34486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The Metric: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Marginal Work Rate.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effectLst/>
              </a:rPr>
              <a:t>Definition: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The percentage of the workforce employed for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less than 6 months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in a year.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The Findings: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High Vulnerability States: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1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Jharkhand: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Highest rate of marginal workers.</a:t>
            </a:r>
          </a:p>
          <a:p>
            <a:pPr marL="457200" marR="0" lvl="1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Himachal Pradesh &amp; Odisha: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Also show high dependency on irregular work.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Economic Implication: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High "Employment" numbers can be misleading.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In these states, a large portion of the population is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underemployed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, relying on seasonal agriculture or daily-wage labor rather than stable, year-round jobs.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32652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2854FB4-497A-4904-92CC-4C2786A1E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8D3D8F-87FC-CB17-2F7F-CFA0BF0F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60" y="106556"/>
            <a:ext cx="5158739" cy="16354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Urbanization vs. Literacy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81A0D-7785-6027-82AE-0924D7C5EF80}"/>
              </a:ext>
            </a:extLst>
          </p:cNvPr>
          <p:cNvSpPr txBox="1"/>
          <p:nvPr/>
        </p:nvSpPr>
        <p:spPr>
          <a:xfrm>
            <a:off x="525782" y="1848554"/>
            <a:ext cx="6134289" cy="45293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Hypothesis Testing: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Does living in a city guarantee higher education levels? (Correlating Urbanization % with Literacy Rate %).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The Trend: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Positive Correlation: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As expected, states with higher urbanization generally show higher literacy rates.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The Critical Exception (The "North-East Model"):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Observation: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States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Mizoram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Tripura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appear in the "High Literacy / Low Urbanization" quadrant.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Insight: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These states achieve &gt;90% literacy despite being largely rural. This proves that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social infrastructure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(schools/community) matters more than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physical infrastructure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(cities/roads) for education.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883E84-3640-43A5-9526-442521C03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4654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aph with a red line&#10;&#10;AI-generated content may be incorrect.">
            <a:extLst>
              <a:ext uri="{FF2B5EF4-FFF2-40B4-BE49-F238E27FC236}">
                <a16:creationId xmlns:a16="http://schemas.microsoft.com/office/drawing/2014/main" id="{5EB70BB3-62C7-2FC8-A90C-007038A9F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013" y="1741998"/>
            <a:ext cx="3720785" cy="277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573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E61D288-0167-4242-8263-5BD3DA1DF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A5CC5-0D53-0F4F-5B44-2638750CC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5480713" cy="15140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400"/>
              <a:t>Multivariate Analysis - Correlation Matrix</a:t>
            </a: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DDA9E4D7-E639-72C3-D7C0-80AC874EE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914" y="2929174"/>
            <a:ext cx="3796208" cy="275225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82FDDB-12BA-4531-A762-4803DABD6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4874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2515C05-0258-B702-84DD-FBBBA7C47D9F}"/>
              </a:ext>
            </a:extLst>
          </p:cNvPr>
          <p:cNvSpPr txBox="1"/>
          <p:nvPr/>
        </p:nvSpPr>
        <p:spPr>
          <a:xfrm>
            <a:off x="7924811" y="838200"/>
            <a:ext cx="3428988" cy="5338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Objective: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To statistically measure the strength of relationships between multiple variables simultaneously.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Scale: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 -1.0 (Perfect Negative Correlation) to +1.0 (Perfect Positive Correlation).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Key Insight 1 (The Economic Shield):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Negative Correlation: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 Strong negative link between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Literacy Rate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 and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Marginal Work Rate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Meaning: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 As education levels rise, the reliance on unstable, seasonal jobs decreases. Education acts as a shield against economic vulnerability.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Key Insight 2 (The Gender Disconnect):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Weak Correlation: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Sex Ratio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 shows very little correlation with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Literacy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 or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Work Participation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Implication: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 Improving education or employment rates does not automatically fix gender imbalance. The "Missing Women" problem is deeply cultural, not just economic.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22719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48D4E-A4C0-F64F-BBE7-FDA29951C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990" y="153772"/>
            <a:ext cx="10515600" cy="1573223"/>
          </a:xfrm>
        </p:spPr>
        <p:txBody>
          <a:bodyPr/>
          <a:lstStyle/>
          <a:p>
            <a:r>
              <a:rPr lang="en-US" dirty="0"/>
              <a:t>Future Scope - Machine Learning &amp; Policy AI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3D6ED1-608F-A782-0F74-3D2C826C85CA}"/>
              </a:ext>
            </a:extLst>
          </p:cNvPr>
          <p:cNvSpPr txBox="1"/>
          <p:nvPr/>
        </p:nvSpPr>
        <p:spPr>
          <a:xfrm>
            <a:off x="568642" y="1726995"/>
            <a:ext cx="1075086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Concept: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Moving beyond "State-level" policy to "Cluster-level" governance.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 Proposed: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K-Means Clustering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It Works: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groups the 640 districts into distinct "clusters" based on similarity in data, not geography.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Potential Clusters: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 A ("The Metros"):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Literacy, High Urbanization, Low Sex Ratio (e.g., Delhi, Bangalore, Mumbai).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 B ("The Vulnerable Hinterland"):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 Literacy, High Marginal Work, High Tribal Population.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 C ("The Developing Middle"):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Average metrics, stable but slow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Advantage: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the government to design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Targeted Policy Bundles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 policy for "Cluster B" would work for districts in both Odisha and Madhya Pradesh simultaneously.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6107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EC4B95-724C-4D0E-A51D-C54DF7CA6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C9516-456D-3F48-C4C7-78F2A216B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232" y="838200"/>
            <a:ext cx="3840226" cy="5334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Conclusion - The Three Paradoxes of Development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00CA7E-42AB-4F9C-8519-0EBCEC0AF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73794CB-CDAD-3C98-177C-8AF8DF1B2071}"/>
              </a:ext>
            </a:extLst>
          </p:cNvPr>
          <p:cNvSpPr txBox="1"/>
          <p:nvPr/>
        </p:nvSpPr>
        <p:spPr>
          <a:xfrm>
            <a:off x="5789099" y="838200"/>
            <a:ext cx="5564702" cy="5333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1. The "Averages" Trap: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Our analysis proved that national averages are dangerous. A "74% Literacy Rate" hides the reality of districts like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</a:rPr>
              <a:t>Alirajpur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(37%) vs.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</a:rPr>
              <a:t>Serchhip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(98%).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Verdict: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Governance requires granular, district-level data, not state-level generalizations.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endParaRPr lang="en-US" altLang="en-US" sz="1500" dirty="0"/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2. The Urban Gender Paradox: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We debunked the myth that "Modernization = Equality."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Verdict: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Urbanization currently penalizes women due to male-selective migration. Cities need family-centric housing policies to fix this skewed sex ratio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3. The "Hidden" Workforce: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High employment rates in states like Jharkhand are an illusion created by "Marginal Work."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Verdict: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Economic health should be measured by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Work Consistency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(&gt;6 months), not just "Job Holding."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Pct val="80000"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90977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A7CC8F-56A6-423D-B67A-8BA89D3EC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040724-76CA-4A2D-9F6B-C97097ECB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DD9A74-67C9-EC2A-7741-FCAD38AF13E7}"/>
              </a:ext>
            </a:extLst>
          </p:cNvPr>
          <p:cNvSpPr txBox="1"/>
          <p:nvPr/>
        </p:nvSpPr>
        <p:spPr>
          <a:xfrm>
            <a:off x="2052320" y="1714500"/>
            <a:ext cx="8087360" cy="31419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dirty="0"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2A7FF43-8020-40F2-A76C-BA4E0C55E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052127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75981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VTI">
  <a:themeElements>
    <a:clrScheme name="Custom 1">
      <a:dk1>
        <a:sysClr val="windowText" lastClr="000000"/>
      </a:dk1>
      <a:lt1>
        <a:sysClr val="window" lastClr="FFFFFF"/>
      </a:lt1>
      <a:dk2>
        <a:srgbClr val="2E3A3C"/>
      </a:dk2>
      <a:lt2>
        <a:srgbClr val="EDE9E7"/>
      </a:lt2>
      <a:accent1>
        <a:srgbClr val="898470"/>
      </a:accent1>
      <a:accent2>
        <a:srgbClr val="7A8773"/>
      </a:accent2>
      <a:accent3>
        <a:srgbClr val="8C845E"/>
      </a:accent3>
      <a:accent4>
        <a:srgbClr val="9F7E56"/>
      </a:accent4>
      <a:accent5>
        <a:srgbClr val="9B7E69"/>
      </a:accent5>
      <a:accent6>
        <a:srgbClr val="AA7862"/>
      </a:accent6>
      <a:hlink>
        <a:srgbClr val="7A8773"/>
      </a:hlink>
      <a:folHlink>
        <a:srgbClr val="9F7E56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VTI" id="{309F1D27-9968-4F93-BA7C-3666A757FD2E}" vid="{76D8E8FD-8787-4E56-A14A-C28BF58ABEE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965</TotalTime>
  <Words>1702</Words>
  <Application>Microsoft Office PowerPoint</Application>
  <PresentationFormat>Widescreen</PresentationFormat>
  <Paragraphs>152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Felix Titling</vt:lpstr>
      <vt:lpstr>Goudy Old Style</vt:lpstr>
      <vt:lpstr>Open Sauce Bold</vt:lpstr>
      <vt:lpstr>ArchwayVTI</vt:lpstr>
      <vt:lpstr>INDIAN POPULATION AND DEMOGRAPHICS </vt:lpstr>
      <vt:lpstr>Data Collection</vt:lpstr>
      <vt:lpstr>Data Exploration</vt:lpstr>
      <vt:lpstr>Dataset Overview</vt:lpstr>
      <vt:lpstr>PowerPoint Presentation</vt:lpstr>
      <vt:lpstr>Univariate Analysis - Population Distribution</vt:lpstr>
      <vt:lpstr>Insights Found - The Literacy Landscape</vt:lpstr>
      <vt:lpstr>Bivariate Analysis - The Gender Gap in Literacy</vt:lpstr>
      <vt:lpstr>Insights Found - The "Urban Penalty"</vt:lpstr>
      <vt:lpstr>Economic Sectors - The Structural Divide</vt:lpstr>
      <vt:lpstr>Insights Found - Workforce Vulnerability</vt:lpstr>
      <vt:lpstr>Urbanization vs. Literacy</vt:lpstr>
      <vt:lpstr>Multivariate Analysis - Correlation Matrix</vt:lpstr>
      <vt:lpstr>Future Scope - Machine Learning &amp; Policy AI</vt:lpstr>
      <vt:lpstr>Conclusion - The Three Paradoxes of Development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 Naga Sai Mukka</dc:creator>
  <cp:lastModifiedBy>Rishi Naga Sai Mukka</cp:lastModifiedBy>
  <cp:revision>9</cp:revision>
  <dcterms:created xsi:type="dcterms:W3CDTF">2025-11-09T13:41:23Z</dcterms:created>
  <dcterms:modified xsi:type="dcterms:W3CDTF">2026-03-03T13:40:49Z</dcterms:modified>
</cp:coreProperties>
</file>